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กล่าวต้อนรับผู้บริหาร ปลัด และข้าราชการ/พนักงาน อปท. ทุกท่าน เน้นย้ำว่า AI ไม่ได้มาแทนที่คน แต่คนท้องถิ่นที่ใช้ AI เป็น จะทำงานได้รวดเร็ว ถูกต้อง และบริการประชาชนได้อย่างมีประสิทธิภาพยิ่งขึ้น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Roadmap 7 ขั้นตอน ชี้แจงว่าจะเริ่มจากโครงสร้างคำสั่งก่อน จากนั้นเจาะระเบียบสารบรรณ แล้วขยายสู่งานประชาสัมพันธ์ ยุทธศาสตร์ กระบวนงาน และปิดท้ายด้วยความปลอดภัยทางกฎหมาย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เน้นย้ำสูตร RTCF อธิบายว่าทำไมการสั่งสั้นๆ แบบเดิมจึงไม่ได้ผล การใส่ครบ 4 ส่วนจะทำให้ได้งานพร้อมใช้ทันที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ให้ผู้เรียนสังเกตความแตกต่างเมื่อใส่ Role ที่เจาะจง กองคลัง vs สำนักปลัด AI จะเลือกใช้ศัพท์เทคนิคและระเบียบที่เกี่ยวข้องต่างกันอย่างสิ้นเชิง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เน้นย้ำว่าถ้าเราไม่บอก Format AI มักจะตอบยาวเป็นพืด หรือใส่หัวข้อที่ไม่ได้ใช้ในหนังสือราชการ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สอนให้ผู้เรียนมอง AI เหมือนการตรวจงานลูกน้อง เมื่อลูกน้องทำมายังไม่เป๊ะ อย่าเพิ่งโยนทิ้ง ให้สั่งแก้เฉพาะจุด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คลิกที่การ์ดเพื่อกระโดดไปยังสไลด์ตัวอย่างของหนังสือชนิดนั้นทันที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คลิกดูตัวอย่างหนังสือตราครุฑฉบับเต็ม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คลิกดูตัวอย่างบันทึกข้อความฉบับเต็ม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คลิกดูตัวอย่างหนังสือประทับตราฉบับเต็ม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คลิกดูตัวอย่างคำสั่งแต่งตั้งคณะทำงาน AI 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คลิกดูตัวอย่างระเบียบเทศบาลว่าด้วยการใช้ AI 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คลิกดูตัวอย่างข้อบังคับว่าด้วยความปลอดภัยไซเบอร์ฉบับเต็ม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คลิกดูตัวอย่างประกาศเทศบาลฉบับเต็ม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คลิกดูตัวอย่างแถลงการณ์รับมืออุทกภัยฉบับเต็ม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คลิกดูตัวอย่างข่าวแจกสื่อมวลชน Press Release 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คลิกดูตัวอย่างหนังสือรับรองวิทยากรฉบับเต็ม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คลิกดูตัวอย่างรายงานการประชุม 5 วาระฉบับเต็ม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คลิกดูตัวอย่างบันทึกตรวจรับพัสดุฉบับเต็ม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เข้าสู่ส่วนที่ 3 การใช้ AI วิเคราะห์และย่อยเอกสารระเบียบราชการขนาดใหญ่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คลิกดูตัวอย่างรายงานสรุปผู้บริหารจำลอง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ช่วยลดเวลาของฝ่ายกฎหมายและฝ่ายการเงินในการเปรียบเทียบเอกสารกฎหมาย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เข้าสู่ส่วนที่ 4 การสื่อสารหน้าบ้านกับประชาชน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คลิกดูตัวอย่างโพสต์ Facebook จำลอง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คลิกดูตัวอย่างข้อความแชทตอบกลับประชาชน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เข้าสู่ส่วนที่ 5 AI ในบทบาทที่ปรึกษาเชิงยุทธศาสตร์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คลิกดูตัวอย่างตาราง SWOT Matrix เต็ม 4 ช่อง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ชี้ให้เห็นว่าช่วยประหยัดเวลาการทำรายงานวิเคราะห์งบประมาณ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เข้าสู่ส่วนที่ 6 การปรับปรุงกระบวนงานและวิเคราะห์ข้อมูลร้องทุกข์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คลิกดูตัวอย่างตาราง SOP ก่อสร้างแบบ อ.1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ช่วยประมวลผลข้อร้องเรียน 100 เรื่องได้ใน 15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ย้ำเตือนเรื่องความรับผิดชอบทางกฎหมายและการคุ้มครองข้อมูลส่วนบุคคล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ตารางสัญญาณไฟจราจรความลับราชการ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คลิกดูตัวอย่างเปรียบเทียบ Good vs Bad Prompt ฉบับเต็ม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Infographic 1 หน้า สำหรับนำไปใช้จริง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โจทย์บูรณาการ End-to-End ครบวงจร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ให้ผู้เรียนกรอกใบงาน Action Plan ใน Handout หน้าสุดท้าย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กล่าวสรุปปิดการบรรยาย ขอบคุณผู้บริหารและผู้เข้ารับการอบรมทุกคน พร้อมเปิดช่วงถาม-ตอบ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โครงการฝึกอบรมเชิงปฏิบัติการ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การประยุกต์ใช้ AI เพื่อยกระดับการทำงานขององค์กรปกครองส่วนท้องถิ่น (อปท.)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FDBFE"/>
                </a:solidFill>
              </a:defRPr>
            </a:pPr>
            <a:r>
              <a:t>Practical AI for Local Government: จากงานสารบรรณ สู่การบริหารยุทธศาสตร์และบริการประชาชน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หนังสือราชการครบ 6 ชนิด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ครอบคลุมทั้งหนังสือภายนอก ภายใน ประทับตรา สั่งการ ประชาสัมพันธ์ และหนังสือ จนท.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สื่อสารประชาชนเชิงรุก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ย่อยกฎหมายภาษีที่ดินฯ สื่อโซเชียล ตอบข้อร้องเรียนด้วยความเห็นอกเห็นใจ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ยุทธศาสตร์ &amp; งบประมาณ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SWOT ชุมชน วิเคราะห์งบประมาณ 5 ปี และ Root Cause การเบิกจ่ายล่าช้า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จริยธรรม &amp; PDPA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ชั้นความลับข้อมูลราชการ กฎหมาย PDPA และกฎเหล็ก 3 Dos &amp; 3 Don'ts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หลักสูตรฝึกปฏิบัติจริง (Hands-on Workshop) อ้างอิงระเบียบงานสารบรรณ พ.ศ. 2526 และแก้ไขเพิ่มเติม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ภาพรวมหลักสูตร  |  Roadmap การเรียนรู้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โครงสร้างการฝึกอบรม 7 โมดูลหลัก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เส้นทางการเรียนรู้ตั้งแต่พื้นฐานคำสั่ง สู่การประยุกต์ใช้งานจริงในทุกภารกิจของ อปท.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1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หลักการเขียน Prompt งานราชการ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โครงสร้างสูตร RTCF 4 องค์ประกอบ และเทคนิค Iterative Prompting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2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ระเบียบสารบรรณ 6 ชนิด กับ AI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หนังสือภายนอก ภายใน ประทับตรา สั่งการ ประชาสัมพันธ์ และหนังสือ จนท.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3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AI จัดทำ &amp; สรุปเอกสาร อปท.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สรุปหนังสือเวียน สถ. สู่ Executive Summary &amp; ตรวจร่างข้อบัญญัติ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4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AI เพื่อการประชาสัมพันธ์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ย่อยภาษีที่ดินฯ สื่อสารเชิงรุก และตอบกลับประชาชนด้วย Empathy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5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วิเคราะห์แผนงาน &amp; งบประมาณ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SWOT การท่องเที่ยว วิเคราะห์งบประมาณ 5 ปี &amp; Root Cause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0233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6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ออกแบบ Workflow &amp; ร้องทุกข์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SOP ขออนุญาตก่อสร้าง (แบบ อ.1) &amp; จัดกลุ่มข้อมูล Traffy Fondue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233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Module 7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จริยธรรม PDPA &amp; Action Plan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ชั้นความลับข้อมูลราชการ, PDPA, 3 Dos &amp; 3 Don'ts และแผน 30 วัน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1 : โครงสร้าง PROMPT  |  สูตร RTCF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ศาสตร์แห่งการสั่งการ: โครงสร้าง Prompt 4 องค์ประกอบ (RTCF)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สูตรมาตรฐานสากลที่ปรับใช้สำหรับงานราชการไทย เพื่อให้ AI ตอบได้แม่นยำตั้งแต่ครั้งแรก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[R] บทบาท (Role)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กำหนดตำแหน่ง หน้าที่ และสังกัด เพื่อให้ AI สวมบทบาทและใช้ฐานความคิดที่ถูกต้อง</a:t>
            </a:r>
          </a:p>
          <a:p>
            <a:pPr>
              <a:spcBef>
                <a:spcPts val="600"/>
              </a:spcBef>
              <a:defRPr sz="1000" i="1">
                <a:solidFill>
                  <a:srgbClr val="D97706"/>
                </a:solidFill>
              </a:defRPr>
            </a:pPr>
            <a:r>
              <a:t>เช่น 'คุณคือนักจัดการงานทั่วไปชำนาญการ สังกัดสำนักปลัด เทศบาล...'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[T] งานที่ต้องการ (Task)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ระบุภารกิจหรือผลงานที่ต้องการอย่างชัดเจน ไม่คลุมเครือ</a:t>
            </a:r>
          </a:p>
          <a:p>
            <a:pPr>
              <a:spcBef>
                <a:spcPts val="600"/>
              </a:spcBef>
              <a:defRPr sz="1000" i="1">
                <a:solidFill>
                  <a:srgbClr val="D97706"/>
                </a:solidFill>
              </a:defRPr>
            </a:pPr>
            <a:r>
              <a:t>เช่น 'ร่างหนังสือราชการภายนอก เพื่อขอความอนุเคราะห์วิทยากร...'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[C] บริบท &amp; ข้อมูลสำคัญ (Context)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ใส่ข้อเท็จจริง วัน เวลา สถานที่ วัตถุประสงค์ กลุ่มเป้าหมาย ผู้ลงนาม และงบประมาณ</a:t>
            </a:r>
          </a:p>
          <a:p>
            <a:pPr>
              <a:spcBef>
                <a:spcPts val="600"/>
              </a:spcBef>
              <a:defRPr sz="1000" i="1">
                <a:solidFill>
                  <a:srgbClr val="D97706"/>
                </a:solidFill>
              </a:defRPr>
            </a:pPr>
            <a:r>
              <a:t>เช่น 'จัดอบรมวันที่ 15 พ.ย. 69 ผู้เข้าอบรม 50 คน ผู้ลงนามคือนายกเทศมนตรี...'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[F] รูปแบบภาษา &amp; โครงสร้าง (Format)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กำหนดระดับภาษาทางการและโครงสร้างเอกสารตามระเบียบงานสารบรรณ</a:t>
            </a:r>
          </a:p>
          <a:p>
            <a:pPr>
              <a:spcBef>
                <a:spcPts val="600"/>
              </a:spcBef>
              <a:defRPr sz="1000" i="1">
                <a:solidFill>
                  <a:srgbClr val="D97706"/>
                </a:solidFill>
              </a:defRPr>
            </a:pPr>
            <a:r>
              <a:t>เช่น 'ใช้ภาษาราชการตามระเบียบสารบรรณ 2526 แบ่งเหตุที่มีหนังสือไปและจุดประสงค์'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1 : โครงสร้าง PROMPT  |  เจาะลึกองค์ประกอบ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เจาะลึก R (Role) &amp; T (Task) สำหรับบุคลากร อปท.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การกำหนดฐานความคิดและขอบเขตงานให้ AI ทำงานตรงตามสายงาน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956A"/>
                </a:solidFill>
              </a:defRPr>
            </a:pPr>
            <a:r>
              <a:t>🎯 การกำหนดบทบาท (Role) ตามกอง/ฝ่าย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สำนักปลัด: 'คุณคือนักจัดการงานทั่วไปชำนาญการ ผู้เชี่ยวชาญระเบียบงานสารบรรณและการบริหารงานบุคคลท้องถิ่น'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กองคลัง: 'คุณคือนักวิชาการเงินและบัญชี / นิติกรชำนาญการ ผู้เชี่ยวชาญระเบียบการเบิกจ่ายและ พ.ร.บ. จัดซื้อจัดจ้างฯ 2560'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กองช่าง: 'คุณคือนายช่างโยธาชำนาญงาน ผู้ดูแลการควบคุมอาคารตาม พ.ร.บ. ควบคุมอาคาร พ.ศ. 2522'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กองสาธารณสุข: 'คุณคือนักวิชาการสุขาภิบาลชำนาญการ ผู้ดูแลสุขอนามัยชุมชนและการจัดการขยะมูลฝอย'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⚡ การระบุคำสั่งงาน (Task) ที่ชัดเจนและวัดผลได้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คำกริยาที่ทรงพลัง: 'ร่าง', 'สรุปเปรียบเทียบ', 'วิเคราะห์หาสาเหตุ', 'จัดทำ Checklist', 'ย่อยภาษา'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ระบุประเภทเอกสาร: ระบุให้ชัดว่าต้องการ 'บันทึกข้อความ', 'หนังสือภายนอก', 'คำสั่ง', หรือ 'ประกาศ'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ระบุผู้รับสาร: ต้องการให้ใครอ่าน เช่น 'สำหรับเสนอผู้บริหารระดับสูง (ปลัด/นายก)' หรือ 'สำหรับประชาชนทั่วไป'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หลีกเลี่ยงคำสั่งคลุมเครือ: อย่าสั่งแค่ 'ช่วยดูให้หน่อย' หรือ 'เขียนมาให้ดีๆ'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1 : โครงสร้าง PROMPT  |  เจาะลึกองค์ประกอบ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เจาะลึก C (Context) &amp; F (Format) เพื่อผลลัพธ์พร้อมใช้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การป้อนข้อเท็จจริงที่ครบถ้วนและบังคับรูปแบบผลลัพธ์ให้ตรงตามระเบียบ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956A"/>
                </a:solidFill>
              </a:defRPr>
            </a:pPr>
            <a:r>
              <a:t>📋 บริบทและข้อเท็จจริงสำคัญ (Context)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วันที่และเวลา: ระบุวันจัดงาน หรือกำหนดส่งมอบงานที่แน่นอน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กลุ่มเป้าหมายและสถานที่: ใครเข้าร่วม จำนวนกี่คน ณ สถานที่ใด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ผู้ลงนามและหน่วยงาน: ใครเป็นผู้ลงนาม (เช่น นายกเทศมนตรี / ปลัดเทศบาล) และส่งถึงใคร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งบประมาณและโครงการ: โครงการตามแผนพัฒนาท้องถิ่น งบประมาณหมวดใด จำนวนเท่าใด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ข้อจำกัด: เช่น 'จำกัดความยาวไม่เกิน 1 หน้ากระดาษ A4'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📄 การกำหนดรูปแบบผลลัพธ์ (Format)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โครงสร้างสารบรรณ 3 ส่วน: 1. เหตุที่มีหนังสือไป 2. จุดประสงค์และความจำเป็น 3. คำลงท้าย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ตารางสรุปเปรียบเทียบ: กำหนดหัวคอลัมน์ เช่น 'ระเบียบเดิม | ระเบียบใหม่ | สิ่งที่ อปท. ต้องปฏิบัติ'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Checklist ขั้นตอน: สั่งให้แสดงเป็นข้อๆ พร้อมช่องทำเครื่องหมาย [ ]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ระดับภาษา (Tone): 'ภาษาราชการระดับสูง', 'ภาษาทางการกระชับ', หรือ 'ภาษาเป็นกันเองสำหรับประชาชน (Citizen-friendly)'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1 : โครงสร้าง PROMPT  |  เทคนิคการสั่งปรับแก้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Iterative Prompting: เทคนิคการขัดเกลาคำสั่งต่อเนื่อง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เมื่อผลลัพธ์รอบแรกยังไม่สมบูรณ์ 100% ควรต่อยอดคำสั่งอย่างไรให้ได้งานที่เป๊ะที่สุด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❌ คำสั่งแก้แบบคลุมเครือ (ไม่แนะนำ)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"ยังไม่ค่อยดี ช่วยเขียนใหม่ให้เพราะกว่านี้หน่อย"</a:t>
            </a:r>
            <a:br/>
            <a:r>
              <a:t>"ขอทางการกว่านี้อีกนิด"</a:t>
            </a:r>
            <a:br/>
            <a:br/>
            <a:r>
              <a:t>ผลกระทบ: AI จะสุ่มเดาความต้องการ และมักรื้อโครงสร้างเดิมที่ทำไว้ดีแล้วทิ้งทั้งหมด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✅ คำสั่งปรับแก้แบบชี้จุดเฉพาะ (แนะนำ)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"ในย่อหน้าที่ 2 ช่วยปรับคำว่า 'ขอเชิญ' เป็น 'ขอความอนุเคราะห์' และเพิ่มประโยคเรื่องเบิกจ่ายค่าตอบแทนวิทยากรตามระเบียบกระทรวงมหาดไทย"</a:t>
            </a:r>
            <a:br/>
            <a:br/>
            <a:r>
              <a:t>ผลลัพธ์: AI แก้ไขเฉพาะจุดที่ระบุ โดยยังคงรักษาโครงสร้างส่วนอื่นไว้อย่างสมบูรณ์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✅ เทคนิคคุมความยาวและรูปแบบ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"ขอให้ย่อสรุปเนื้อหาในส่วน 'ข้อเท็จจริง' ให้เหลือไม่เกิน 5 บรรทัด และจัดทำเป็นข้อ 1, 2, 3"</a:t>
            </a:r>
            <a:br/>
            <a:br/>
            <a:r>
              <a:t>ผลลัพธ์: ได้ข้อความกระชับ ตรงตามธรรมเนียมการเสนอแฟ้มบันทึกข้อความต่อผู้บริหาร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ระเบียบงานสารบรรณ  |  Module 2 : คลิกการ์ดเพื่อกระโดดดูตัวอย่าง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ระเบียบสำนักนายกรัฐมนตรีว่าด้วยงานสารบรรณ พ.ศ. 2526 (หนังสือ 6 ชนิด)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คลิกที่การ์ดประเภทหนังสือใดก็ได้ เพื่อกระโดดไปยังสไลด์ตัวอย่าง Prompt และดูตัวอย่างเอกสารจริงทันที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ระเบียบงานสารบรรณ  |  ประเภทที่ 1 : หนังสือภายนอก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ร่างหนังสือราชการภายนอก (ขอความอนุเคราะห์วิทยากร)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การร่างหนังสือติดต่อหน่วยงานภายนอก (มหาวิทยาลัยราชภัฏ) ใช้กระดาษตราครุฑ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คุณคือนักจัดการงานทั่วไปชำนาญการ สังกัดสำนักปลัด เทศบาลตำบลเมืองใหม่</a:t>
            </a:r>
            <a:br/>
            <a:r>
              <a:t>งานที่ต้องการให้ทำ: ร่างหนังสือราชการภายนอก (ใช้กระดาษตราครุฑ) ถึงอธิการบดีมหาวิทยาลัยราชภัฏในพื้นที่ เพื่อขอความอนุเคราะห์บุคลากรเป็นวิทยากร</a:t>
            </a:r>
            <a:br/>
            <a:r>
              <a:t>บริบทและข้อมูลสำคัญ:</a:t>
            </a:r>
            <a:br/>
            <a:r>
              <a:t>- โครงการฝึกอบรมการประยุกต์ใช้ AI ในงานราชการ วันศุกร์ที่ 15 พฤศจิกายน 2569 เวลา 09.00 - 16.00 น. ณ ห้องประชุมเทศบาลตำบลเมืองใหม่</a:t>
            </a:r>
            <a:br/>
            <a:r>
              <a:t>- กลุ่มเป้าหมายคือข้าราชการและพนักงานเทศบาล 50 คน</a:t>
            </a:r>
            <a:br/>
            <a:r>
              <a:t>- เทศบาลยินดีสนับสนุนค่าสมนาคุณวิทยากรและค่าพาหนะตามระเบียบกระทรวงมหาดไทย</a:t>
            </a:r>
            <a:br/>
            <a:r>
              <a:t>- ผู้ลงนามคือนายกเทศมนตรีตำบลเมืองใหม่</a:t>
            </a:r>
            <a:br/>
            <a:r>
              <a:t>รูปแบบภาษาและผลลัพธ์:</a:t>
            </a:r>
            <a:br/>
            <a:r>
              <a:t>- ใช้ภาษาราชการถูกต้องตามระเบียบสำนักนายกรัฐมนตรีว่าด้วยงานสารบรรณ พ.ศ. 2526</a:t>
            </a:r>
            <a:br/>
            <a:r>
              <a:t>- แบ่งโครงสร้างเป็น 3 ย่อหน้า: 1. เหตุที่มีหนังสือไป 2. จุดประสงค์และความจำเป็น 3. สรุปความต้องการและคำลงท้าย (ขอแสดงความนับถือ)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ระบุชัดเจนเรื่องระเบียบเบิกจ่ายค่าสมนาคุณ และโครงสร้าง 3 ย่อหน้าตามสารบรรณ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ระเบียบงานสารบรรณ  |  ประเภทที่ 2 : หนังสือภายใน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ร่างบันทึกข้อความ (ขออนุมัติจัดโครงการและงบประมาณ)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การร่างหนังสือภายในเสนอผู้บริหารท้องถิ่น โครงสร้าง 3 ส่วน (ต้นเรื่อง - ข้อเท็จจริง - ข้อเสนอ)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คุณคือนักจัดการงานทั่วไปชำนาญการ สังกัดสำนักปลัด เทศบาลตำบลเมืองใหม่</a:t>
            </a:r>
            <a:br/>
            <a:r>
              <a:t>งานที่ต้องการให้ทำ: ร่างหนังสือราชการภายใน (กระดาษบันทึกข้อความ) เสนอต่อนายกเทศมนตรีตำบลเมืองใหม่ เพื่อขออนุมัติจัดโครงการและเบิกจ่ายงบประมาณ</a:t>
            </a:r>
            <a:br/>
            <a:r>
              <a:t>บริบทและข้อมูลสำคัญ:</a:t>
            </a:r>
            <a:br/>
            <a:r>
              <a:t>- เรื่อง: ขออนุมัติจัดโครงการฝึกอบรมการใช้ AI ในงานราชการ ประจำปีงบประมาณ พ.ศ. 2569</a:t>
            </a:r>
            <a:br/>
            <a:r>
              <a:t>- วันศุกร์ที่ 15 พฤศจิกายน 2569 ณ ห้องประชุมเทศบาลฯ กลุ่มเป้าหมาย 50 คน</a:t>
            </a:r>
            <a:br/>
            <a:r>
              <a:t>- ใช้งบประมาณหมวดค่าใช้สอย โครงการพัฒนาบุคลากร จำนวน 25,000 บาท</a:t>
            </a:r>
            <a:br/>
            <a:r>
              <a:t>รูปแบบภาษาและผลลัพธ์:</a:t>
            </a:r>
            <a:br/>
            <a:r>
              <a:t>- จัดรูปแบบบันทึกข้อความ: ส่วนหัว (ข้อความ ส่วนราชการ ที่ วันที่ เรื่อง)</a:t>
            </a:r>
            <a:br/>
            <a:r>
              <a:t>- เนื้อหา 3 ส่วน: 1. ต้นเรื่อง 2. ข้อเท็จจริง/รายละเอียดโครงการ 3. ข้อพิจารณาและข้อเสนอ</a:t>
            </a:r>
            <a:br/>
            <a:r>
              <a:t>- ใช้ภาษาทางการ กะทัดรัด ชัดเจน (ไม่มีคำลงท้าย ขอแสดงความนับถือ)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โครงสร้าง ต้นเรื่อง / ข้อเท็จจริง / ข้อพิจารณาและข้อเสนอ เป็นหัวใจของบันทึกข้อความราชการไทย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ระเบียบงานสารบรรณ  |  ประเภทที่ 3 : หนังสือประทับตรา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ร่างหนังสือประทับตรา (ส่งรายงานสถิติประจำเดือน)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หนังสือที่ใช้ประทับตราแทนการลงชื่อในเรื่องไม่สำคัญ เช่น ส่งเอกสาร แบบตอบรับ หรือแจ้งเตือน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เจ้าพนักงานธุรการ กองยุทธศาสตร์และงบประมาณ เทศบาลตำบลเมืองใหม่</a:t>
            </a:r>
            <a:br/>
            <a:r>
              <a:t>งานที่ต้องการให้ทำ: ร่างหนังสือประทับตรา (ใช้กระดาษตราครุฑ) สำหรับนำส่งรายงานสถิติการให้บริการประชาชนและการจัดเก็บรายได้ ประจำเดือนตุลาคม 2569</a:t>
            </a:r>
            <a:br/>
            <a:r>
              <a:t>บริบทและข้อมูลสำคัญ:</a:t>
            </a:r>
            <a:br/>
            <a:r>
              <a:t>- ส่งถึง: สำนักงานส่งเสริมการปกครองท้องถิ่นอำเภอเมืองเชียงใหม่</a:t>
            </a:r>
            <a:br/>
            <a:r>
              <a:t>- อ้างถึง: หนังสือแจ้งเวียนของจังหวัดเชียงใหม่ เรื่อง การส่งรายงานสถิติประจำเดือน</a:t>
            </a:r>
            <a:br/>
            <a:r>
              <a:t>- รายละเอียด: ส่งรายงานสถิติ จำนวน 1 ชุด ภายในกำหนดวันที่ 1 พฤศจิกายน 2569</a:t>
            </a:r>
            <a:br/>
            <a:r>
              <a:t>รูปแบบภาษาและผลลัพธ์:</a:t>
            </a:r>
            <a:br/>
            <a:r>
              <a:t>- รูปแบบหนังสือประทับตราตามระเบียบงานสารบรรณ พ.ศ. 2526 (ระบุ ที่, ถึง, ข้อความสั้นกระชับตรงประเด็น, ชื่อส่วนราชการที่ส่งออก, วันที่)</a:t>
            </a:r>
            <a:br/>
            <a:r>
              <a:t>- ไม่มีการลงลายมือชื่อบุคคล ให้ทำพื้นที่วงกลมระบุการประทับตราชื่อเทศบาลด้วยหมึกสีชาด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หนังสือประทับตราใช้สำหรับเรื่องทั่วไป ไม่ลงชื่อนายกฯ แต่ประทับตราชื่อส่วนราชการ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หนังสือสั่งการ (ชนิดที่ 1)  |  ประเภท 4.1 : คำสั่ง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ร่างคำสั่งเทศบาล (คำสั่งแต่งตั้งคณะทำงาน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หนังสือสั่งการชนิด 'คำสั่ง' ข้อความที่ผู้มีอำนาจสั่งให้ปฏิบัติโดยชอบด้วยกฎหมาย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นิติกรชำนาญการ ร่วมกับสำนักปลัด เทศบาลตำบลเมืองใหม่</a:t>
            </a:r>
            <a:br/>
            <a:r>
              <a:t>งานที่ต้องการให้ทำ: ร่างคำสั่งเทศบาลตำบลเมืองใหม่ เรื่อง แต่งตั้งคณะทำงานขับเคลื่อนการประยุกต์ใช้ปัญญาประดิษฐ์ (AI) ในงานราชการ ประจำปี 2569</a:t>
            </a:r>
            <a:br/>
            <a:r>
              <a:t>บริบทและข้อมูลสำคัญ:</a:t>
            </a:r>
            <a:br/>
            <a:r>
              <a:t>- ฐานอำนาจ: อาศัยอำนาจตามมาตรา 48 เตรส แห่งพระราชบัญญัติเทศบาล พ.ศ. 2496 และที่แก้ไขเพิ่มเติม</a:t>
            </a:r>
            <a:br/>
            <a:r>
              <a:t>- องค์ประกอบคณะทำงาน: ปลัดเทศบาล (ประธาน), ผอ.กองคลัง, ผอ.กองช่าง, ผอ.กองสาธารณสุขฯ, นิติกร เป็นคณะทำงาน และ หน.ฝ่ายอำนวยการ เป็นเลขานุการ</a:t>
            </a:r>
            <a:br/>
            <a:r>
              <a:t>- อำนาจหน้าที่: วางแผนการใช้ AI, กำกับดูแลความปลอดภัยข้อมูลและ PDPA, และรายงานผลต่อนายกเทศมนตรี</a:t>
            </a:r>
            <a:br/>
            <a:r>
              <a:t>รูปแบบภาษาและผลลัพธ์:</a:t>
            </a:r>
            <a:br/>
            <a:r>
              <a:t>- รูปแบบคำสั่งราชการ: 1. ส่วนหัวคำสั่ง 2. อารัมภบทปรารภเหตุผล 3. รายชื่อคณะทำงานและอำนาจหน้าที่ 4. 'ทั้งนี้ ตั้งแต่บัดนี้เป็นต้นไป สั่ง ณ วันที่...' ลงนามโดยนายกเทศมนตรี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มีผลบังคับใช้ทางปกครอง ต้องอ้างฐานอำนาจตามกฎหมายจัดตั้ง อปท. ให้ถูกต้อง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หนังสือสั่งการ (ชนิดที่ 2)  |  ประเภท 4.2 : ระเบียบ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ร่างระเบียบเทศบาล (ว่าด้วยแนวปฏิบัติการใช้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หนังสือสั่งการชนิด 'ระเบียบ' ข้อความที่ผู้มีอำนาจวางไว้โดยอาศัยอำนาจกฎหมายเพื่อถือปฏิบัติประจำ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นิติกรชำนาญการ สังกัดสำนักปลัด เทศบาลตำบลเมืองใหม่</a:t>
            </a:r>
            <a:br/>
            <a:r>
              <a:t>งานที่ต้องการให้ทำ: ร่างระเบียบเทศบาลตำบลเมืองใหม่ ว่าด้วยแนวปฏิบัติการใช้งานปัญญาประดิษฐ์ (AI) และการคุ้มครองข้อมูลส่วนบุคคล พ.ศ. 2569</a:t>
            </a:r>
            <a:br/>
            <a:r>
              <a:t>บริบทและข้อมูลสำคัญ:</a:t>
            </a:r>
            <a:br/>
            <a:r>
              <a:t>- ฐานอำนาจ: อาศัยอำนาจตามมาตรา 48 เตรส แห่ง พ.ร.บ. เทศบาล พ.ศ. 2496 และระเบียบกระทรวงมหาดไทย</a:t>
            </a:r>
            <a:br/>
            <a:r>
              <a:t>- วัตถุประสงค์: วางหลักเกณฑ์การใช้ AI ในหน่วยงาน, กำหนดข้อมูลที่ห้ามป้อนเข้า AI (ข้อมูลลับ/เลขบัตร 13 หลัก), และหลักการตรวจสอบความถูกต้องโดยเจ้าหน้าที่ (Human-in-the-loop)</a:t>
            </a:r>
            <a:br/>
            <a:r>
              <a:t>รูปแบบภาษาและผลลัพธ์:</a:t>
            </a:r>
            <a:br/>
            <a:r>
              <a:t>- รูปแบบระเบียบราชการ: แบ่งเป็น ข้อ 1 ชื่อระเบียบ, ข้อ 2 วันใช้บังคับ, ข้อ 3 คำนิยาม, ข้อ 4-6 หมวดความมั่นคงปลอดภัย, หมวดบทลงโทษ, ประกาศ ณ วันที่... ลงนามโดยนายกเทศมนตรี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ระเบียบเป็นข้อกำหนดที่วางไว้ถือปฏิบัติเป็นการประจำในหน่วยงาน แบ่งเป็น 'ข้อ' ชัดเจน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หนังสือสั่งการ (ชนิดที่ 3)  |  ประเภท 4.3 : ข้อบังคับ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ร่างข้อบังคับเทศบาล (ว่าด้วยจรรยาบรรณไซเบอร์)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หนังสือสั่งการชนิด 'ข้อบังคับ' ข้อความที่ผู้มีอำนาจกำหนดให้ต้องปฏิบัติตามกฎหมายที่ให้อำนาจ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นิติกรชำนาญการ ร่วมกับงานสารสนเทศ เทศบาลตำบลเมืองใหม่</a:t>
            </a:r>
            <a:br/>
            <a:r>
              <a:t>งานที่ต้องการให้ทำ: ร่างข้อบังคับเทศบาลตำบลเมืองใหม่ ว่าด้วยจรรยาบรรณและการรักษาความมั่นคงปลอดภัยระบบสารสนเทศ พ.ศ. 2569</a:t>
            </a:r>
            <a:br/>
            <a:r>
              <a:t>บริบทและข้อมูลสำคัญ:</a:t>
            </a:r>
            <a:br/>
            <a:r>
              <a:t>- ฐานอำนาจ: อาศัยอำนาจตาม พ.ร.บ. ระเบียบบริหารงานบุคคลส่วนท้องถิ่น พ.ศ. 2542 และ พ.ร.บ. การรักษาความมั่นคงปลอดภัยไซเบอร์ พ.ศ. 2562</a:t>
            </a:r>
            <a:br/>
            <a:r>
              <a:t>- สาระสำคัญ: ข้อห้ามการแชร์รหัสผ่านระบบราชการ, ข้อกำหนดการเชื่อมต่อ API ของ AI กับฐานข้อมูลทะเบียนราษฎร, และบทกำหนดโทษทางวินัยหากทำให้ข้อมูลรั่วไหล</a:t>
            </a:r>
            <a:br/>
            <a:r>
              <a:t>รูปแบบภาษาและผลลัพธ์:</a:t>
            </a:r>
            <a:br/>
            <a:r>
              <a:t>- รูปแบบข้อบังคับราชการ: มีชื่อข้อบังคับ, อาศัยอำนาจตามกฎหมาย, แบ่งเป็น 'ข้อ' ชัดเจน และลงนามโดยนายกเทศมนตรี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ข้อบังคับเป็นข้อกำหนดที่มีผลต่อวินัยและการปฏิบัติหน้าที่ของเจ้าหน้าที่โดยตรง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หนังสือประชาสัมพันธ์ (ชนิดที่ 1)  |  ประเภท 5.1 : ประกาศ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ร่างประกาศเทศบาล (จัดเก็บภาษีเคลื่อนที่ &amp; เบี้ยยังชีพ)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หนังสือประชาสัมพันธ์ชนิด 'ประกาศ' ข้อความที่ส่วนราชการประกาศชี้แจงหรือกำหนดแนวทางปฏิบัติ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นักประชาสัมพันธ์ชำนาญการ ร่วมกับกองคลัง เทศบาลตำบลเมืองใหม่</a:t>
            </a:r>
            <a:br/>
            <a:r>
              <a:t>งานที่ต้องการให้ทำ: ร่างหนังสือประชาสัมพันธ์ ประเภท 'ประกาศ' เรื่อง กำหนดการออกหน่วยบริการจัดเก็บภาษีเคลื่อนที่และรับลงทะเบียนสวัสดิการชุมชน ประจำปี 2569</a:t>
            </a:r>
            <a:br/>
            <a:r>
              <a:t>บริบทและข้อมูลสำคัญ:</a:t>
            </a:r>
            <a:br/>
            <a:r>
              <a:t>- วัตถุประสงค์: ชี้แจงกำหนดการออกให้บริการประชาชนในหมู่ที่ 1 ถึงหมู่ที่ 4 ณ ศาลาประชาคมหมู่บ้าน ตลอดเดือนพฤศจิกายน 2569 เวลา 09.00 - 15.30 น.</a:t>
            </a:r>
            <a:br/>
            <a:r>
              <a:t>- ภารกิจที่ให้บริการ: ชำระภาษีที่ดินและสิ่งปลูกสร้าง, ภาษีป้าย, ลงทะเบียนเบี้ยยังชีพผู้สูงอายุและคนพิการ</a:t>
            </a:r>
            <a:br/>
            <a:r>
              <a:t>- เอกสารที่ประชาชนต้องเตรียม: บัตรประชาชน, ทะเบียนบ้าน, เอกสารสิทธิที่ดิน</a:t>
            </a:r>
            <a:br/>
            <a:r>
              <a:t>รูปแบบภาษาและผลลัพธ์:</a:t>
            </a:r>
            <a:br/>
            <a:r>
              <a:t>- รูปแบบประกาศราชการ: ส่วนหัวประกาศตราครุฑ (ประกาศเทศบาลตำบลเมืองใหม่ เรื่อง...), เนื้อหาชี้แจงรายละเอียด, 'จึงประกาศให้ทราบโดยทั่วกัน', 'ประกาศ ณ วันที่...' ลงนามโดยนายกเทศมนตรี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ประกาศใช้แจ้งให้ประชาชนในพื้นที่ทราบแนวปฏิบัติอย่างเป็นทางการ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หนังสือประชาสัมพันธ์ (ชนิดที่ 2)  |  ประเภท 5.2 : แถลงการณ์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ร่างแถลงการณ์เทศบาล (ชี้แจงสถานการณ์อุทกภัย)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หนังสือประชาสัมพันธ์ชนิด 'แถลงการณ์' ข้อความทำความเข้าใจในกิจการหรือเหตุการณ์ฉุกเฉิน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หัวหน้าฝ่ายอำนวยการ ร่วมกับฝ่ายป้องกันและบรรเทาสาธารณภัย เทศบาลตำบลเมืองใหม่</a:t>
            </a:r>
            <a:br/>
            <a:r>
              <a:t>งานที่ต้องการให้ทำ: ร่างหนังสือประชาสัมพันธ์ ประเภท 'แถลงการณ์' เรื่อง สถานการณ์ระดับน้ำในลำน้ำแม่คาวและมาตรการป้องกันอุทกภัย ฉบับที่ 1</a:t>
            </a:r>
            <a:br/>
            <a:r>
              <a:t>บริบทและข้อมูลสำคัญ:</a:t>
            </a:r>
            <a:br/>
            <a:r>
              <a:t>- เกิดฝนตกหนักต่อเนื่องในพื้นที่ตอนบน ระดับน้ำในลำน้ำเพิ่มสูงขึ้น แต่ยังต่ำกว่าตลิ่ง 50 ซม.</a:t>
            </a:r>
            <a:br/>
            <a:r>
              <a:t>- มาตรการเทศบาล: ติดตั้งเครื่องสูบน้ำ 4 จุด, จัดเตรียมกระสอบทราย 5,000 ใบ, เปิดสายด่วน ปภ. ตลอด 24 ชม. (โทร. 053-123199)</a:t>
            </a:r>
            <a:br/>
            <a:r>
              <a:t>รูปแบบภาษาและผลลัพธ์:</a:t>
            </a:r>
            <a:br/>
            <a:r>
              <a:t>- รูปแบบแถลงการณ์ราชการ: ส่วนหัว (แถลงการณ์เทศบาลตำบลเมืองใหม่ เรื่อง...), เนื้อหาชี้แจงข้อเท็จจริงอย่างตรงไปตรงมา ไม่ตื่นตระหนก, ระบุช่องทางขอความช่วยเหลือ, 'เทศบาลตำบลเมืองใหม่ วันที่...'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แถลงการณ์ใช้ชี้แจงข้อเท็จจริงในสถานการณ์วิกฤต สร้างความเชื่อมั่นและลดความตื่นตระหนก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หนังสือประชาสัมพันธ์ (ชนิดที่ 3)  |  ประเภท 5.3 : ข่าว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ร่างข่าวประชาสัมพันธ์ (Press Release สื่อมวลชน)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หนังสือประชาสัมพันธ์ชนิด 'ข่าว' ข้อความที่เรียบเรียงขึ้นเพื่อเผยแพร่แก่สาธารณชนและสื่อมวลชน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นักประชาสัมพันธ์ปฏิบัติการ เทศบาลตำบลเมืองใหม่</a:t>
            </a:r>
            <a:br/>
            <a:r>
              <a:t>งานที่ต้องการให้ทำ: ร่างข่าวประชาสัมพันธ์ (Press Release) ฉบับที่ 24/2569 เรื่อง 'เทศบาลตำบลเมืองใหม่ เปิดตัวศูนย์ AI Smart Service ลดเวลาขอใบอนุญาตและตอบข้อร้องเรียน 24 ชม.'</a:t>
            </a:r>
            <a:br/>
            <a:r>
              <a:t>บริบทและข้อมูลสำคัญ:</a:t>
            </a:r>
            <a:br/>
            <a:r>
              <a:t>- พิธีเปิดเมื่อวันที่ 1 พฤศจิกายน 2569 โดยนายกเทศมนตรีเป็นประธาน</a:t>
            </a:r>
            <a:br/>
            <a:r>
              <a:t>- สาระสำคัญ: นำ AI มาใช้ลดเวลาออกใบอนุญาตก่อสร้างจาก 14 วัน เหลือ 5 วันทำการ และมีระบบตอบข้อร้องเรียนผ่านไลน์อัตโนมัติ ติดตามสถานะได้แบบเรียลไทม์</a:t>
            </a:r>
            <a:br/>
            <a:r>
              <a:t>รูปแบบภาษาและผลลัพธ์:</a:t>
            </a:r>
            <a:br/>
            <a:r>
              <a:t>- รูปแบบข่าวราชการ: พาดหัวข่าวดึงดูดความสนใจ, ย่อหน้าสรุป (Lead paragraph: ใคร ทำอะไร ที่ไหน เมื่อไหร่ ทำไม), เนื้อหาคำสัมภาษณ์นายกเทศมนตรี, ข้อมูลติดต่อสอบถามสำหรับสื่อมวลชน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ข่าวราชการใช้ภาษาเขียนเชิงสื่อมวลชน กระชับ น่าสนใจ และเผยแพร่สู่สาธารณะได้ทันที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หนังสือที่ จนท. ทำขึ้น (ชนิดที่ 1)  |  ประเภท 6.1 : หนังสือรับรอง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ร่างหนังสือรับรอง (รับรองการปฏิบัติงานวิทยากร)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หนังสือที่ส่วนราชการออกให้เพื่อรับรองแก่บุคคล นิติบุคคล หรือหน่วยงาน เพื่อแสดงสิทธิหรือข้อเท็จจริง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นักจัดการงานทั่วไปชำนาญการ สังกัดสำนักปลัด เทศบาลตำบลเมืองใหม่</a:t>
            </a:r>
            <a:br/>
            <a:r>
              <a:t>งานที่ต้องการให้ทำ: ร่างเอกสารที่เจ้าหน้าที่ทำขึ้น ประเภท 'หนังสือรับรอง' (ใช้กระดาษตราครุฑ) เพื่อรับรองการปฏิบัติหน้าที่ของวิทยากรภายนอก</a:t>
            </a:r>
            <a:br/>
            <a:r>
              <a:t>บริบทและข้อมูลสำคัญ:</a:t>
            </a:r>
            <a:br/>
            <a:r>
              <a:t>- ผู้รับรอง: อาจารย์ ดร.สมศักดิ์ นวัตกรรม ตำแหน่ง อาจารย์ประจำคณะวิทยาการจัดการ มหาวิทยาลัยราชภัฏเชียงใหม่</a:t>
            </a:r>
            <a:br/>
            <a:r>
              <a:t>- กิจกรรม: ปฏิบัติหน้าที่เป็นวิทยากรบรรยายและฝึกปฏิบัติการ โครงการฝึกอบรม AI ในงานราชการ วันที่ 15 พฤศจิกายน 2569 ณ เทศบาลตำบลเมืองใหม่</a:t>
            </a:r>
            <a:br/>
            <a:r>
              <a:t>- ข้อความรับรอง: ปฏิบัติหน้าที่ด้วยความเรียบร้อย สมประโยชน์ของทางราชการทุกประการ</a:t>
            </a:r>
            <a:br/>
            <a:r>
              <a:t>รูปแบบภาษาและผลลัพธ์:</a:t>
            </a:r>
            <a:br/>
            <a:r>
              <a:t>- รูปแบบหนังสือรับรองตามระเบียบงานสารบรรณ พ.ศ. 2526 (ตราครุฑ, ข้อความ 'หนังสือฉบับนี้ให้ไว้เพื่อรับรองว่า...', 'ให้ไว้ ณ วันที่...' ลงนามโดยนายกเทศมนตรี)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หนังสือรับรองใช้เป็นหลักฐานยืนยันสิทธิหรือผลงาน มีผลทางกฎหมาย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หนังสือที่ จนท. ทำขึ้น (ชนิดที่ 2)  |  ประเภท 6.2 : รายงานการประชุม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ร่างรายงานการประชุม (ครบ 5 ระเบียบวาระ)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การบันทึกความคิดเห็นของผู้มาประชุม ผู้เข้าร่วมประชุม และมติของที่ประชุมไว้เป็นหลักฐาน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นักจัดการงานทั่วไปชำนาญการ เลขานุการคณะทำงาน เทศบาลตำบลเมืองใหม่</a:t>
            </a:r>
            <a:br/>
            <a:r>
              <a:t>งานที่ต้องการให้ทำ: ร่างรายงานการประชุมคณะทำงานขับเคลื่อน AI ในงานราชการ ครั้งที่ 1/2569</a:t>
            </a:r>
            <a:br/>
            <a:r>
              <a:t>บริบทและข้อมูลสำคัญ:</a:t>
            </a:r>
            <a:br/>
            <a:r>
              <a:t>- ประชุมเมื่อวันศุกร์ที่ 1 พฤศจิกายน 2569 ณ ห้องประชุมสภาเทศบาลฯ ปลัดเทศบาลเป็นประธาน ผู้เข้าร่วมคือ ผอ.ทุกกอง</a:t>
            </a:r>
            <a:br/>
            <a:r>
              <a:t>- วาระสำคัญ: 1. แจ้งนโยบาย AI มท. 2. แผนการจัดอบรมบุคลากร 50 คน วันที่ 15 พ.ย. 69 3. การกำหนดมาตรการคุ้มครองข้อมูลส่วนบุคคล (PDPA) ห้ามนำข้อมูลลับและเลขบัตร 13 หลักเข้า AI</a:t>
            </a:r>
            <a:br/>
            <a:r>
              <a:t>รูปแบบภาษาและผลลัพธ์:</a:t>
            </a:r>
            <a:br/>
            <a:r>
              <a:t>- รูปแบบรายงานการประชุมตามระเบียบงานสารบรรณ พ.ศ. 2526 (ภาค 2)</a:t>
            </a:r>
            <a:br/>
            <a:r>
              <a:t>- แบ่งเป็น 5 ระเบียบวาระ พร้อมระบุ 'มติที่ประชุม' ที่เป็นทางการและชัดเจนในแต่ละวาระ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แปลงภาษาพูดจากการประชุมให้เป็นสำนวนสารบรรณ และบันทึกมติอย่างรัดกุม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2 : หนังสือที่ จนท. ทำขึ้น (ชนิดที่ 3)  |  ประเภท 6.3 : บันทึก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ร่างบันทึกตรวจรับพัสดุ / บันทึกข้อเท็จจริง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ข้อความซึ่งผู้ใต้บังคับบัญชาเสนอต่อผู้บังคับบัญชา หรือข้อความที่เจ้าหน้าที่บันทึกไว้เป็นหลักฐาน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เจ้าหน้าที่พัสดุ กรรมการและเลขานุการตรวจรับพัสดุ เทศบาลตำบลเมืองใหม่</a:t>
            </a:r>
            <a:br/>
            <a:r>
              <a:t>งานที่ต้องการให้ทำ: ร่างเอกสารประเภท 'บันทึก' เรื่อง บันทึกรายงานผลการตรวจรับพัสดุ โครงการจัดซื้อครุภัณฑ์คอมพิวเตอร์</a:t>
            </a:r>
            <a:br/>
            <a:r>
              <a:t>บริบทและข้อมูลสำคัญ:</a:t>
            </a:r>
            <a:br/>
            <a:r>
              <a:t>- เรียน: นายกเทศมนตรีตำบลเมืองใหม่</a:t>
            </a:r>
            <a:br/>
            <a:r>
              <a:t>- รายละเอียดสัญญา: สัญญาซื้อขายเลขที่ 12/2569 ลงวันที่ 15 ต.ค. 69 ผู้ขายคือ บริษัท สมาร์ท ไอที จำกัด ครุภัณฑ์คอมพิวเตอร์ 5 เครื่อง</a:t>
            </a:r>
            <a:br/>
            <a:r>
              <a:t>- ผลการตรวจรับ: คณะกรรมการตรวจรับเมื่อวันที่ 1 พ.ย. 69 ตรวจสอบแล้วถูกต้องครบถ้วนตามสัญญา ใช้งานได้เรียบร้อย จึงบันทึกเสนอเพื่อโปรดอนุมัติเบิกจ่ายเงิน</a:t>
            </a:r>
            <a:br/>
            <a:r>
              <a:t>รูปแบบภาษาและผลลัพธ์:</a:t>
            </a:r>
            <a:br/>
            <a:r>
              <a:t>- รูปแบบบันทึกราชการ: ระบุชื่อเรื่อง, เรียนผู้มีอำนาจ, ต้นเรื่อง, ข้อเท็จจริงผลการตรวจรับ, ข้อเสนอขออนุมัติเบิกจ่ายเงิน, และช่องลงนามคณะกรรมการตรวจรับครบทุกคน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จุดเด่น: บันทึกของเจ้าหน้าที่ใช้เป็นหลักฐานการปฏิบัติหน้าที่และประกอบการเบิกจ่ายงบประมาณ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3 : งานเอกสาร &amp; ระเบียบ  |  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ช่วยจัดทำเอกสารราชการ &amp; สรุปหนังสือเวียน สถ.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การวิเคราะห์และสรุปสาระสำคัญจากไฟล์ PDF/Word กฎหมาย และระเบียบราชการ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สรุปหนังสือเวียน มท. / สถ.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แปลงเอกสารระเบียบ 20-30 หน้า ให้เป็น Executive Summary 1 หน้า พร้อม Checklist สิ่งที่ อปท. ต้องทำ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เปรียบเทียบระเบียบฉบับเก่า-ใหม่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ค้นหาจุดแตกต่าง เช่น เกณฑ์การเบิกจ่ายใหม่ เทียบกับเกณฑ์เดิม สรุปเป็นตารางเปรียบเทียบจุดต่อจุด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ตรวจสอบร่างเทศบัญญัติ/ข้อบัญญัติ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ตรวจทานความถูกต้องของการอ้างอิงมาตรา กฎหมายลำดับรอง และความสอดคล้องของสำนวนกฎหมาย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3 : งานเอกสาร &amp; ระเบียบ  |  ตัวอย่างสรุปหนังสือเวียน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สรุปหนังสือเวียน สถ. สู่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คำสั่งเพื่อให้ AI สรุปสาระสำคัญสำหรับเสนอผู้บริหารระดับสูง (ปลัด/นายก)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คุณคือนิติกรชำนาญการ ปฏิบัติงานในองค์กรปกครองส่วนท้องถิ่น</a:t>
            </a:r>
            <a:br/>
            <a:r>
              <a:t>งานที่ต้องการให้ทำ: อ่านและสรุปสาระสำคัญจากหนังสือเวียนกรมส่งเสริมการปกครองท้องถิ่น (ไฟล์แนบ) เพื่อจัดทำเป็น 'บทสรุปสำหรับผู้บริหาร (Executive Summary)' ความยาวไม่เกิน 1 หน้ากระดาษ A4</a:t>
            </a:r>
            <a:br/>
            <a:r>
              <a:t>รูปแบบภาษาและโครงสร้างผลลัพธ์:</a:t>
            </a:r>
            <a:br/>
            <a:r>
              <a:t>1. ชื่อเรื่อง เลขที่หนังสือ และวันที่บังคับใช้</a:t>
            </a:r>
            <a:br/>
            <a:r>
              <a:t>2. วัตถุประสงค์และที่มาของการออกหนังสือเวียนโดยย่อ</a:t>
            </a:r>
            <a:br/>
            <a:r>
              <a:t>3. สาระสำคัญและการเปลี่ยนแปลงหลัก (เปรียบเทียบสิ่งที่เปลี่ยนไปจากแนวปฏิบัติเดิม)</a:t>
            </a:r>
            <a:br/>
            <a:r>
              <a:t>4. สิ่งที่เทศบาล/อบต. ต้องดำเนินการ (Action Items) จัดทำเป็น Checklist ระบุฝ่ายที่รับผิดชอบและกำหนดเวลาที่ต้องแล้วเสร็จ</a:t>
            </a:r>
            <a:br/>
            <a:r>
              <a:t>5. ข้อสังเกตหรือความเสี่ยงทางกฎหมายที่ผู้บริหารควรระวัง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ผลลัพธ์ที่ได้: ผู้บริหารสามารถอ่านจบได้ใน 3 นาที และรู้ทันทีว่าฝ่ายไหนต้องทำอะไรต่อ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3 : งานเอกสาร &amp; ระเบียบ  |  งานประจำ อปท.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ตัวอย่าง: ตรวจสอบร่างข้อบัญญัติงบประมาณ &amp; ระเบียบ มท.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การประยุกต์ใช้ AI ในการตรวจทานความถูกต้องทางกฎหมายและระเบียบการเบิกจ่าย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956A"/>
                </a:solidFill>
              </a:defRPr>
            </a:pPr>
            <a:r>
              <a:t>⚖️ ตรวจทานร่างเทศบัญญัติ/ข้อบัญญัติงบประมาณ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โจทย์: ตรวจสอบความสอดคล้องระหว่างหมวดรายจ่าย และระเบียบกระทรวงมหาดไทยว่าด้วยการรับเงิน การเบิกจ่ายเงินฯ 2566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คำสั่ง AI: 'ตรวจสอบร่างข้อบัญญัติงบประมาณรายจ่ายประจำปี (แนบไฟล์) ว่ามีรายการใดที่อาจขัดหรือแย้งกับระเบียบ มท. ล่าสุดหรือไม่'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ผลลัพธ์: AI จะระบุข้อสังเกตพร้อมอ้างอิงมาตราที่เกี่ยวข้อง ช่วยนิติกรตรวจสอบความถูกต้องก่อนเสนอนายกฯ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🔍 เปรียบเทียบระเบียบการจัดซื้อจัดจ้างฉบับใหม่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โจทย์: กรมบัญชีกลางหรือ มท. ออกระเบียบใหม่ ต้องการรู้ว่าจุดใดบ้างที่เปลี่ยนแปลงจากเดิม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คำสั่ง AI: 'เปรียบเทียบข้อความในระเบียบฉบับปี 2560 กับฉบับแก้ไขปีล่าสุด สรุปเป็นตาราง 3 คอลัมน์: ข้อความเดิม | ข้อความใหม่ | ผลกระทบต่อ อปท.'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ผลลัพธ์: ได้ตารางเปรียบเทียบจุดต่อจุดในเวลาเพียง 1 นาที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4 : ประชาสัมพันธ์ &amp; สื่อสาร  |  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เพื่อการประชาสัมพันธ์และการสื่อสารกับประชาชน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ปรับเปลี่ยนภาษาทางการที่เข้าใจยาก ให้เป็นมิตร เข้าถึงง่าย และถูกต้องตามระเบียบ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Social Media Posts (Facebook/LINE)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แปลงประกาศเทศบัญญัติภาษี สิทธิสวัสดิการ ให้เป็นโพสต์ที่ประชาชนอ่านเข้าใจทันที พร้อม Emoji เหมาะสม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ข้อความตอบกลับเรื่องร้องเรียน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ตอบกลับประชาชนทางโซเชียลด้วยความเห็นอกเห็นใจ (Empathy) ชี้แจงขั้นตอน และกำหนดเวลาแก้ไขชัดเจน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คำกล่าวเปิดงาน &amp; สคริปต์พิธีกร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ร่างคำกล่าวเปิดงานประเพณี กิจกรรมชุมชน สอดคล้องกับธรรมเนียมและระดับของประธานในพิธี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4 : ประชาสัมพันธ์ &amp; สื่อสาร  |  ตัวอย่างโพสต์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ย่อยภาษีที่ดินและสิ่งปลูกสร้างเป็น Facebook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เปลี่ยนระเบียบกฎหมายซับซ้อน เป็นโพสต์ประชาสัมพันธ์ที่อ่านเข้าใจง่ายและดึงดูดใจ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คุณคือนักประชาสัมพันธ์ปฏิบัติการ ร่วมกับฝ่ายพัฒนารายได้ กองคลัง เทศบาลเมือง...</a:t>
            </a:r>
            <a:br/>
            <a:r>
              <a:t>งานที่ต้องการให้ทำ: ย่อยข้อมูลกฎหมาย พ.ร.บ. ภาษีที่ดินและสิ่งปลูกสร้าง เรื่อง 'การชำระภาษีประจำปี 2569' ให้เป็นโพสต์ Facebook ประชาสัมพันธ์สำหรับประชาชนทั่วไป</a:t>
            </a:r>
            <a:br/>
            <a:r>
              <a:t>บริบทและข้อมูลสำคัญ:</a:t>
            </a:r>
            <a:br/>
            <a:r>
              <a:t>- กำหนดชำระภายในเดือนเมษายน 2569 ช่องทางชำระ: เคาน์เตอร์กองคลัง, โอนผ่าน QR Code ธนาคาร, หรือเคาน์เตอร์เซอร์วิส</a:t>
            </a:r>
            <a:br/>
            <a:r>
              <a:t>- หากไม่ชำระตามกำหนดจะมีเบี้ยปรับและเงินเพิ่มตามกฎหมาย</a:t>
            </a:r>
            <a:br/>
            <a:r>
              <a:t>รูปแบบภาษาและผลลัพธ์:</a:t>
            </a:r>
            <a:br/>
            <a:r>
              <a:t>- ภาษาเป็นกันเอง สุภาพ ชัดเจน ไม่ใช้ศัพท์กฎหมายที่เข้าใจยาก (Citizen-Friendly Tone)</a:t>
            </a:r>
            <a:br/>
            <a:r>
              <a:t>- ใช้เทคนิคการพาดหัวข่าว (Hook) ที่ดึงดูดสายตา</a:t>
            </a:r>
            <a:br/>
            <a:r>
              <a:t>- จัดเรียงข้อมูลสำคัญเป็นข้อย่อย ใช้ Emoji อย่างพอเหมาะเพื่อช่วยให้อ่านง่าย</a:t>
            </a:r>
            <a:br/>
            <a:r>
              <a:t>- ระบุ Call to Action (ช่องทางติดต่อสอบถาม) และ Call Center เทศบาล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ผลสัมฤทธิ์: ประชาชนรู้ว่าต้องจ่ายเมื่อไหร่ จ่ายที่ไหน ไม่จ่ายจะเกิดอะไรขึ้น และติดต่อใครได้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4 : ประชาสัมพันธ์ &amp; สื่อสาร  |  การตอบข้อร้องเรียน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ตอบกลับประชาชนกรณีไฟกิ่งชำรุด / น้ำไม่ไหล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เทคนิคการร่างข้อความตอบกลับด้วยหลัก Empathy + Action Plan ชัดเจน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❌ ตอบแบบราชการเดิมๆ (ประชาชนรู้สึกห่างเหิน)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"รับเรื่องแล้ว จะแจ้งกองช่างดำเนินการต่อไปตามขั้นตอนระเบียบราชการ"</a:t>
            </a:r>
            <a:br/>
            <a:br/>
            <a:r>
              <a:t>ผลกระทบ: ประชาชนไม่รู้ว่าจะเสร็จเมื่อไหร่ รู้สึกว่าโยนเรื่อง และเกิดการโพสต์ต่อว่าซ้ำในโซเชียล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✅ สั่ง AI ให้ตอบด้วยหลัก 3 ส่วน (แนะนำ)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"สวัสดีครับคุณสมชาย เทศบาลตำบล... ต้องขออภัยในความไม่สะดวกเป็นอย่างยิ่งครับ เบื้องต้นแอดมินได้ส่งเรื่องประสานกองช่างไฟฟ้าเรียบร้อยแล้ว (รหัสคำร้อง #EF-6902) โดยเจ้าหน้าที่จะลงพื้นที่ตรวจสอบและเปลี่ยนหลอดไฟให้ในวันพรุ่งนี้ (ช่วงบ่าย 13.00 - 16.30 น.) หากมีความคืบหน้าจะแจ้งให้ทราบทันทีครับ หากฉุกเฉินติดต่อ 053-XXXXXX ต่อ 14 ครับ"</a:t>
            </a:r>
            <a:br/>
            <a:br/>
            <a:r>
              <a:t>ผลลัพธ์: ประชาชนรู้สึกว่าได้รับการใส่ใจ มีรหัสติดตาม และมีกำหนดเวลาแน่นอน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5 : แผนงาน &amp; ยุทธศาสตร์  |  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กับงานบริหาร การวางแผน และยุทธศาสตร์ อปท.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ยกระดับการทำงานของนักวิเคราะห์นโยบายและแผน และผู้บริหารท้องถิ่น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SWOT &amp; TOWS Matrix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วิเคราะห์จุดแข็ง จุดอ่อน โอกาส อุปสรรค ของพื้นที่ อปท. เพื่อสังเคราะห์เป็นโครงการเชิงยุทธศาสตร์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วิเคราะห์งบประมาณ 5 ปี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จำแนกโครงสร้างรายรับ-รายจ่าย งบลงทุน งบบุคลากร และคำนวณสัดส่วนอย่างแม่นยำ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Root Cause Analysis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หาสาเหตุที่แท้จริงของการเบิกจ่ายงบประมาณล่าช้า และเสนอ 3 มาตรการเร่งรัดแก่ผู้บริหาร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5 : แผนงาน &amp; ยุทธศาสตร์  |  SWOT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SWOT พัฒนาการท่องเที่ยวและเศรษฐกิจริมน้ำ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ให้ AI ช่วยระดมความคิดและจัดกลุ่มยุทธศาสตร์สำหรับแผนพัฒนาท้องถิ่น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คุณคือนักวิเคราะห์นโยบายและแผนชำนาญการ เทศบาล...</a:t>
            </a:r>
            <a:br/>
            <a:r>
              <a:t>งานที่ต้องการให้ทำ: วิเคราะห์ SWOT Analysis สำหรับจัดทำแผนพัฒนาท้องถิ่น (พ.ศ. 2566-2570) ในประเด็น 'ยุทธศาสตร์การพัฒนาการท่องเที่ยวเชิงวัฒนธรรมและเศรษฐกิจชุมชนริมน้ำ'</a:t>
            </a:r>
            <a:br/>
            <a:r>
              <a:t>บริบทพื้นที่:</a:t>
            </a:r>
            <a:br/>
            <a:r>
              <a:t>- มีวัดเก่าแก่ริมแม่น้ำ มีตลาดน้ำชุมชนเสาร์-อาทิตย์ ปราชญ์ชาวบ้านเข้มแข็ง</a:t>
            </a:r>
            <a:br/>
            <a:r>
              <a:t>- ปัญหา: น้ำเสียริมตลิ่ง, ขยะตกค้างช่วงวันหยุด, ร้านค้าชุมชนยังไม่รับชำระเงินดิจิทัล</a:t>
            </a:r>
            <a:br/>
            <a:r>
              <a:t>- โอกาส: นโยบาย Soft Power และการท่องเที่ยวเมืองรองของรัฐบาล</a:t>
            </a:r>
            <a:br/>
            <a:r>
              <a:t>- อุปสรรค: สภาวะเศรษฐกิจผันผวน และแหล่งท่องเที่ยวอำเภอข้างเคียงเปิดตัวใหม่</a:t>
            </a:r>
            <a:br/>
            <a:r>
              <a:t>รูปแบบผลลัพธ์:</a:t>
            </a:r>
            <a:br/>
            <a:r>
              <a:t>- ตาราง SWOT Matrix 4 ช่อง (S-W-O-T) ระบุข้อวิเคราะห์ช่องละ 3-4 ข้อ</a:t>
            </a:r>
            <a:br/>
            <a:r>
              <a:t>- เสนอแนะโครงการเชิงยุทธศาสตร์ 3 โครงการที่บรรจุในแผนพัฒนาท้องถิ่นได้ทันที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ผลลัพธ์ที่ได้: ตาราง SWOT ชัดเจน พร้อมข้อเสนอ 3 โครงการสำหรับบรรจุในแผนพัฒนาท้องถิ่น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5 : แผนงาน &amp; ยุทธศาสตร์  |  วิเคราะห์งบประมาณ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วิเคราะห์งบประมาณ 5 ปี &amp; สาเหตุเบิกจ่ายล่าช้า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Root Cause Analysis &amp; ข้อเสนอแนะเชิงบริหารเพื่อเร่งรัดการเบิกจ่ายงบลงทุน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🔍 การวิเคราะห์สาเหตุหลัก 3 ประการ (Root Causes)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1. ความล่าช้าในกระบวนการจัดทำราคากลางและแบบรูปรายการ (กองช่างบุคลากรไม่พอ)</a:t>
            </a:r>
            <a:br/>
            <a:r>
              <a:t>2. ขั้นตอนการจัดซื้อจัดจ้าง e-bidding เกิดการอุทธรณ์ผลการประกวดราคา</a:t>
            </a:r>
            <a:br/>
            <a:r>
              <a:t>3. การบริหารสัญญาขาดระบบแจ้งเตือนกำหนดส่งมอบงานของผู้รับจ้าง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💡 ข้อเสนอแนะเชิงบริหาร 3 ข้อ สำหรับผู้บริหาร อปท.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1. ตั้งคณะทำงานเฉพาะกิจ (Fast-Track Taskforce) ประกบโครงการงบลงทุนเกิน 5 แสนบาททุกสัปดาห์</a:t>
            </a:r>
            <a:br/>
            <a:r>
              <a:t>2. นำเทมเพลตมาตรฐานมาใช้ในการทำราคากลางเพื่อลดเวลาตรวจแก้</a:t>
            </a:r>
            <a:br/>
            <a:r>
              <a:t>3. จัดทำ Dashboard ติดตามสถานะสัญญาแบบ Real-time รายงานปลัดเทศบาลทุกวันจันทร์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6 : กระบวนงาน &amp; ร้องทุกข์  |  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ช่วยออกแบบกระบวนการทำงาน (SOP) &amp; วิเคราะห์ข้อมูล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ปรับปรุงกระบวนการบริการประชาชนสู่ Digital One-Stop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ออกแบบ Workflow &amp; SOP ดิจิทัล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เขียนขั้นตอนการขอใบอนุญาตก่อสร้าง (แบบ อ.1) ลดขั้นตอนซ้ำซ้อนจาก 14 วัน เหลือ 5 วันทำการ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ประมวลผลข้อมูลเรื่องร้องทุกข์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นำเข้าข้อมูลข้อร้องเรียนจาก Traffy Fondue หรือสมุดร้องทุกข์ เพื่อจัดกลุ่มปัญหาและพื้นที่เสี่ยง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สร้าง Service Checklist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จัดทำรายการตรวจสอบเอกสารสำหรับประชาชนและเจ้าหน้าที่ผู้รับคำขอ เพื่อป้องกันเอกสารไม่ครบ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6 : กระบวนงาน &amp; ร้องทุกข์  |  ตัวอย่าง Workflow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ออกแบบ SOP การขอใบอนุญาตก่อสร้าง (แบบ อ.1)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ลดขั้นตอนและระยะเวลาตาม พ.ร.บ. การอำนวยความสะดวกในการพิจารณาอนุญาตฯ พ.ศ. 2558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บทบาท: คุณคือหัวหน้าฝ่ายควบคุมอาคาร กองช่าง ร่วมกับฝ่ายนิติการ เทศบาล...</a:t>
            </a:r>
            <a:br/>
            <a:r>
              <a:t>งานที่ต้องการให้ทำ: ทบทวนและออกแบบกระบวนการทำงานมาตรฐาน (Standard Operating Procedure: SOP) เรื่อง 'การขอรับใบอนุญาตก่อสร้าง ดัดแปลง หรือรื้อถอนอาคาร (แบบ อ.1)'</a:t>
            </a:r>
            <a:br/>
            <a:r>
              <a:t>เป้าหมาย:</a:t>
            </a:r>
            <a:br/>
            <a:r>
              <a:t>- ปรับลดระยะเวลาดำเนินการจากเดิม 14 วันทำการ ให้เหลือไม่เกิน 5 วันทำการ</a:t>
            </a:r>
            <a:br/>
            <a:r>
              <a:t>- ประยุกต์ใช้ระบบยื่นคำขอออนไลน์ (e-Service) และตรวจแบบดิจิทัล</a:t>
            </a:r>
            <a:br/>
            <a:r>
              <a:t>รูปแบบผลลัพธ์:</a:t>
            </a:r>
            <a:br/>
            <a:r>
              <a:t>1. แผนผังกระบวนงาน (Flowchart) 5 ขั้นตอนหลัก</a:t>
            </a:r>
            <a:br/>
            <a:r>
              <a:t>2. ตารางระบุ: ขั้นตอน | ผู้รับผิดชอบ | ระยะเวลาเดิม | ระยะเวลาใหม่ | เครื่องมือดิจิทัลที่ใช้</a:t>
            </a:r>
            <a:br/>
            <a:r>
              <a:t>3. Checklist เอกสารหลักฐานที่ประชาชนต้องเตรียม เพื่อป้องกันการขอเอกสารซ้ำซ้อน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ผลลัพธ์: ตาราง SOP ชัดเจน ช่วยลดระยะเวลาและตัดขั้นตอนซ้ำซ้อนได้อย่างเป็นรูปธรรม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6 : กระบวนงาน &amp; ร้องทุกข์  |  วิเคราะห์ Traffy Fondue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ตัวอย่าง Prompt: จัดกลุ่มเรื่องร้องเรียน Traffy Fondue &amp; เสนอทางแก้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กรณีศึกษา: ข้อมูลร้องเรียน 100 เรื่อง นำมาจัดกลุ่มและวิเคราะห์ความเร่งด่วนใน 15 วินาที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956A"/>
                </a:solidFill>
              </a:defRPr>
            </a:pPr>
            <a:r>
              <a:t>📊 ผลการจัดกลุ่มปัญหาโดย AI (Top 3 Categories)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แสงสว่างและความปลอดภัย (42%): ไฟกิ่งดับในซอยเปลี่ยว เสี่ยงอุบัติเหตุและอาชญากรรม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ขยะและสิ่งแวดล้อม (31%): ขยะตกค้างช่วงวันหยุด และการเผาเศษวัชพืชในที่โล่ง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โครงสร้างพื้นฐาน (27%): ท่อระบายน้ำอุดตัน ผิวถนนเป็นหลุมบ่อ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💡 แนวทางแก้ไขเชิงรุก (Proactive Strategy)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แผนที่ความเสี่ยง (Heatmap): กำหนดพิกัดซอยที่มีไฟดับซ้ำซาก เพื่อเปลี่ยนเป็นโคม LED อัจฉริยะ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ปรับรอบเก็บขยะ: เพิ่มรอบจัดเก็บในวันหยุดเสาร์-อาทิตย์เฉพาะโซนร้านอาหารริมน้ำ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ระบบแจ้งเตือนอัตโนมัติ: เชื่อมโยงสถานะการซ่อมจากกองช่างตรงถึงประชาชนผู้แจ้งเรื่อง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7 : จริยธรรม AI &amp; PDPA  |  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การใช้ AI อย่างปลอดภัย มีจริยธรรม และถูกต้องตามระเบียบ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ข้อพึงระวังสูงสุดสำหรับเจ้าหน้าที่รัฐในการนำเครื่องมือ AI มาใช้ในงานราชการ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ความลับของทางราชการ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ห้ามใส่เอกสารชั้น 'ลับ', 'ลับมาก', 'ลับที่สุด' หรือเอกสารที่ยังไม่เผยแพร่ลงในระบบ AI สาธารณะ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กฎหมาย PDPA (พ.ร.บ. คุ้มครองข้อมูลส่วนบุคคล)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ต้องตัดเลขบัตรประชาชน 13 หลัก, ชื่อนามสกุลจริง, ข้อมูลสุขภาพ หรือเบอร์โทรศัพท์ออกก่อนเสมอ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Human-in-the-loop (คนต้องเป็นผู้ตรวจรับ)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AI ไม่มีความรับผิดทางกฎหมาย ผู้ลงนามและเจ้าหน้าที่ผู้เสนอเรื่องต้องรับผิดชอบความถูกต้อง 100%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7 : จริยธรรม AI &amp; PDPA  |  ระดับชั้นความลับ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ระดับชั้นความลับของข้อมูลที่ 'ห้าม' นำเข้า AI สาธารณะ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ตามระเบียบว่าด้วยการรักษาความลับของทางราชการ พ.ศ. 2544 และ พ.ร.บ. ข้อมูลข่าวสารฯ 2540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🔴. ลับที่สุด (Top Secret)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ข้อมูลความมั่นคง แผนรับมือวินาศกรรม หากรั่วไหลจะเกิดความเสียหายร้ายแรงยิ่ง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ห้ามนำเข้าสู่ระบบ AI ทุกกรณีโดยเด็ดขาด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🔴. ลับมาก (Secret)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ข้อมูลยุทธศาสตร์สำคัญ แผนกำลังพลลับ ข้อมูลความมั่นคงท้องถิ่นระดับสูง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ห้ามนำเข้าสู่ AI สาธารณะ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🟠. ลับ (Confidential)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สำนวนการสอบสวนวินัย ข้อเท็จจริงการทุจริตที่ยังไม่ยุติ ข้อมูลราคากลางก่อนประกาศ e-GP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ห้ามนำเข้า AI ที่ไม่มีสัญญาคุ้มครองข้อมูล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🟢. ข้อมูลส่วนบุคคล (PDPA)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เลขบัตร ปชช., ฐานข้อมูลภาษี, ข้อมูลผู้ป่วย/เบี้ยยังชีพผู้พิการ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ต้องทำ Anonymization (ตัดข้อมูลระบุตัวตนออก) ก่อนให้ AI ประมวลผล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⚪. ข้อมูลเปิดเผยทั่วไป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ระเบียบ มท., หนังสือเวียน สถ., ข่าวประชาสัมพันธ์, คู่มือประชาชน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สามารถใช้ AI ช่วยสรุป ร่าง และวิเคราะห์ได้อย่างปลอดภัย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7 : จริยธรรม AI &amp; PDPA  |  Good vs Bad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เปรียบเทียบ Good Prompt vs Bad Prompt สำหรับงาน อปท.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บทเรียนจริงเพื่อป้องกันข้อผิดพลาดและข้อมูลรั่วไหลในการใช้งาน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❌ Bad Prompt (ละเมิด PDPA และคลุมเครือ)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"ช่วยสรุปข้อร้องเรียนของนายสมศักดิ์ รักดี เลขบัตร 3-5099-00123-45-6 บ้านเลขที่ 99 หมู่ 3 ที่มาร้องเรียนว่านายกเทศมนตรีฮั้วประมูลหน่อย"</a:t>
            </a:r>
            <a:br/>
            <a:br/>
            <a:r>
              <a:t>จุดอันตราย: ละเมิด PDPA รุนแรง และใส่ข้อมูลกล่าวหาที่ยังไม่มีข้อเท็จจริงเข้าสู่ระบบสาธารณะ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✅ Good Prompt (ปลอดภัยและได้ผลลัพธ์แม่นยำ)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"บทบาท: เจ้าหน้าที่นิติกร เทศบาล...</a:t>
            </a:r>
            <a:br/>
            <a:r>
              <a:t>งาน: ร่างแบบฟอร์มตรวจสอบข้อเท็จจริงเบื้องต้น กรณีได้รับเรื่องร้องเรียนเกี่ยวกับกระบวนการจัดซื้อจัดจ้างโครงการก่อสร้างถนน</a:t>
            </a:r>
            <a:br/>
            <a:r>
              <a:t>ข้อมูล: ไม่ระบุชื่อบุคคล แต่ต้องการหัวข้อตรวจสอบตาม พ.ร.บ. จัดซื้อจัดจ้างฯ 2560 มาตรา 64-67</a:t>
            </a:r>
            <a:br/>
            <a:r>
              <a:t>ผลลัพธ์: ตาราง Checklist สำหรับคณะกรรมการสืบสวนข้อเท็จจริง"</a:t>
            </a:r>
            <a:br/>
            <a:br/>
            <a:r>
              <a:t>จุดเด่น: ปลอดภัย ไม่ระบุตัวบุคคล ได้โครงสร้างการทำงานที่เป็นมาตรฐาน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7 : จริยธรรม AI &amp; PDPA  |  กฎเหล็กจริยธรรม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กฎเหล็ก 3 Dos &amp; 3 Don'ts สำหรับบุคลากร อปท.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แนวทางปฏิบัติที่ต้องจำขึ้นใจในการใช้ Generative AI ในหน่วยงานรัฐ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956A"/>
                </a:solidFill>
              </a:defRPr>
            </a:pPr>
            <a:r>
              <a:t>✅ 3 Dos (สิ่งที่ควรทำเสมอ)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Do Verify Facts: ตรวจสอบความถูกต้องของระเบียบ เลขที่หนังสือ และข้อกฎหมายก่อนใช้งานเสมอ (ป้องกัน AI Hallucination)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Do Anonymize: ลบชื่อ นามสกุล เลขบัตร 13 หลัก และข้อมูลส่วนบุคคลออกก่อนส่งเข้า AI ทุกครั้ง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Do Keep Human Control: ข้าราชการ/พนักงานต้องเป็นผู้ตัดสินใจขั้นสุดท้าย และรับผิดชอบในเอกสารที่ลงนาม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❌ 3 Don'ts (สิ่งที่ไม่ควรทำเด็ดขาด)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Don't Upload Secrets: อย่าอัปโหลดเอกสารชั้นความลับ หรือข้อมูลราคากลางก่อนการประมูลลงใน AI สาธารณะ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Don't Blindly Trust: อย่าเชื่อผลลัพธ์ AI โดยไม่อ่านตรวจทาน โดยเฉพาะตัวเลขงบประมาณและการคำนวณภาษี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Don't Replace Discretion: อย่าให้ AI ทำหน้าที่ตัดสินใจแทนอำนาจดุลพินิจของผู้บริหารตามกฎหมาย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8 : สรุป &amp; ACTION PLAN  |  End-to-End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โจทย์จำลองงานจริง: จัดงานประเพณีท้องถิ่นแบบครบวงจร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ฝึกปฏิบัติการบูรณาการ AI ในทุกขั้นตอนตั้งแต่ต้นจนจบ (End-to-End Workflow)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ขั้นที่ 1: ร่างโครงร่างโครงการ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โครงการจัดงานประเพณีลอยกระทงปลอดเหล้า ประจำปี 2569 พร้อมกำหนดวัตถุประสงค์และตัวชี้วัด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ขั้นที่ 2: ร่างหนังสือเชิญประธาน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ร่างหนังสือภายนอก (ตราครุฑ) ถึงผู้ว่าราชการจังหวัดหรือนายอำเภอ เพื่อเชิญเป็นประธานเปิดงาน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ขั้นที่ 3: สื่อประชาสัมพันธ์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ร่างโพสต์ Facebook เชิญชวนประชาชน พร้อมข้อความรณรงค์ใช้วัสดุธรรมชาติและงดประทัด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22024" y="19202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ขั้นที่ 4: Checklist ความปลอดภัย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จัดทำตารางตรวจสอบความปลอดภัยท่าน้ำ แสงสว่าง และทีมกู้ชีพเทศบาล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ส่วนที่ 8 : สรุป &amp; ACTION PLAN  |  แผนปฏิบัติการ 30 วัน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การจัดทำ Action Plan นำ AI ไปใช้จริงใน 30 วันแรก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FDBFE"/>
                </a:solidFill>
              </a:defRPr>
            </a:pPr>
            <a: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เปลี่ยนความรู้จากการอบรม สู่การลงมือปฏิบัติจริงในกอง/ฝ่ายของตนเอง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📅 แผนงานระยะ 1-10 วันแรก (Quick Wins)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นำ Prompt มาตรฐานไปใช้ในงานร่างบันทึกข้อความและหนังสือภายนอก</a:t>
            </a:r>
            <a:br/>
            <a:r>
              <a:t>• สร้างโฟลเดอร์รวบรวม Prompt ประจำกอง/ฝ่าย</a:t>
            </a:r>
            <a:br/>
            <a:r>
              <a:t>• ตั้งจุดตรวจทานข้อมูลส่วนบุคคล (PDPA Check) ในคอมพิวเตอร์ประจำโต๊ะ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📅 แผนงานระยะ 11-30 วัน (Systematic Adoption)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เริ่มนำ AI ช่วยสรุปหนังสือเวียน สถ. และทำบทสรุปผู้บริหารเสนอปลัด/นายก</a:t>
            </a:r>
            <a:br/>
            <a:r>
              <a:t>• ปรับรูปแบบโพสต์ประชาสัมพันธ์หน้าเพจเทศบาล/อบต. ให้ทันสมัยขึ้น</a:t>
            </a:r>
            <a:br/>
            <a:r>
              <a:t>• วัดผลตัวชี้วัด (KPI): ลดเวลาการร่างเอกสารลงอย่างน้อย 50%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ก้าวสู่ท้องถิ่นดิจิทัล (Smart Local Government)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FDBFE"/>
                </a:solidFill>
              </a:defRPr>
            </a:pPr>
            <a:r>
              <a:t>AI ไม่ได้มาแทนที่คน แต่คนทำงานท้องถิ่นที่ใช้ AI เป็น จะทำงานได้มีประสิทธิภาพและบริการประชาชนได้ดียิ่งขึ้น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เปิดระบบ AI Hub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ฝึกเขียน Prompt และทำแบบทดสอบได้ที่หน้าเว็บ ai.html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เอกสาร Handout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เอกสารสรุปและแม่แบบคำสั่ง A4 พร้อมใช้งานที่ handout.html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ทำแบบทดสอบ Post-Test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วัดผลสัมฤทธิ์หลังการฝึกอบรม 5 ข้อ เพื่อรับใบประกาศนียบัตร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291840"/>
            <a:ext cx="2377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ช่วงถาม-ตอบ (Q&amp;A)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เปิดรับข้อซักถาม แลกเปลี่ยนประสบการณ์ และข้อเสนอแนะ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ขอขอบคุณผู้บริหาร ข้าราชการ และบุคลากรองค์กรปกครองส่วนท้องถิ่นทุกท่าน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